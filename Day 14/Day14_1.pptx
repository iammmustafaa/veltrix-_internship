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Playfair Display Bold" charset="1" panose="00000000000000000000"/>
      <p:regular r:id="rId11"/>
    </p:embeddedFont>
    <p:embeddedFont>
      <p:font typeface="Montserrat" charset="1" panose="00000500000000000000"/>
      <p:regular r:id="rId12"/>
    </p:embeddedFont>
    <p:embeddedFont>
      <p:font typeface="Playfair Display" charset="1" panose="00000000000000000000"/>
      <p:regular r:id="rId13"/>
    </p:embeddedFont>
    <p:embeddedFont>
      <p:font typeface="Poppins Bold" charset="1" panose="00000800000000000000"/>
      <p:regular r:id="rId14"/>
    </p:embeddedFont>
    <p:embeddedFont>
      <p:font typeface="Montserrat Bold" charset="1" panose="000008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532D"/>
        </a:solidFill>
      </p:bgPr>
    </p:bg>
    <p:spTree>
      <p:nvGrpSpPr>
        <p:cNvPr id="1" name=""/>
        <p:cNvGrpSpPr/>
        <p:nvPr/>
      </p:nvGrpSpPr>
      <p:grpSpPr>
        <a:xfrm>
          <a:off x="0" y="0"/>
          <a:ext cx="0" cy="0"/>
          <a:chOff x="0" y="0"/>
          <a:chExt cx="0" cy="0"/>
        </a:xfrm>
      </p:grpSpPr>
      <p:grpSp>
        <p:nvGrpSpPr>
          <p:cNvPr name="Group 2" id="2"/>
          <p:cNvGrpSpPr/>
          <p:nvPr/>
        </p:nvGrpSpPr>
        <p:grpSpPr>
          <a:xfrm rot="0">
            <a:off x="-1130300" y="4057750"/>
            <a:ext cx="3086100" cy="2171499"/>
            <a:chOff x="0" y="0"/>
            <a:chExt cx="812800" cy="571917"/>
          </a:xfrm>
        </p:grpSpPr>
        <p:sp>
          <p:nvSpPr>
            <p:cNvPr name="Freeform 3" id="3"/>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D4AF37"/>
            </a:solidFill>
          </p:spPr>
        </p:sp>
        <p:sp>
          <p:nvSpPr>
            <p:cNvPr name="TextBox 4" id="4"/>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467343" y="4057750"/>
            <a:ext cx="3086100" cy="2171499"/>
            <a:chOff x="0" y="0"/>
            <a:chExt cx="812800" cy="571917"/>
          </a:xfrm>
        </p:grpSpPr>
        <p:sp>
          <p:nvSpPr>
            <p:cNvPr name="Freeform 6" id="6"/>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D4AF37"/>
            </a:solidFill>
          </p:spPr>
        </p:sp>
        <p:sp>
          <p:nvSpPr>
            <p:cNvPr name="TextBox 7" id="7"/>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951662" y="771180"/>
            <a:ext cx="2384677" cy="23846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0789" t="-20789" r="-23676" b="-23676"/>
              </a:stretch>
            </a:blipFill>
          </p:spPr>
        </p:sp>
      </p:grpSp>
      <p:sp>
        <p:nvSpPr>
          <p:cNvPr name="TextBox 10" id="10"/>
          <p:cNvSpPr txBox="true"/>
          <p:nvPr/>
        </p:nvSpPr>
        <p:spPr>
          <a:xfrm rot="0">
            <a:off x="2090943" y="4477479"/>
            <a:ext cx="14106115" cy="1198693"/>
          </a:xfrm>
          <a:prstGeom prst="rect">
            <a:avLst/>
          </a:prstGeom>
        </p:spPr>
        <p:txBody>
          <a:bodyPr anchor="t" rtlCol="false" tIns="0" lIns="0" bIns="0" rIns="0">
            <a:spAutoFit/>
          </a:bodyPr>
          <a:lstStyle/>
          <a:p>
            <a:pPr algn="ctr">
              <a:lnSpc>
                <a:spcPts val="9853"/>
              </a:lnSpc>
            </a:pPr>
            <a:r>
              <a:rPr lang="en-US" b="true" sz="7038">
                <a:solidFill>
                  <a:srgbClr val="D4AF37"/>
                </a:solidFill>
                <a:latin typeface="Playfair Display Bold"/>
                <a:ea typeface="Playfair Display Bold"/>
                <a:cs typeface="Playfair Display Bold"/>
                <a:sym typeface="Playfair Display Bold"/>
              </a:rPr>
              <a:t>BUSINESS PRESENTATION</a:t>
            </a:r>
          </a:p>
        </p:txBody>
      </p:sp>
      <p:sp>
        <p:nvSpPr>
          <p:cNvPr name="TextBox 11" id="11"/>
          <p:cNvSpPr txBox="true"/>
          <p:nvPr/>
        </p:nvSpPr>
        <p:spPr>
          <a:xfrm rot="0">
            <a:off x="5344834" y="3386547"/>
            <a:ext cx="7598333" cy="1209056"/>
          </a:xfrm>
          <a:prstGeom prst="rect">
            <a:avLst/>
          </a:prstGeom>
        </p:spPr>
        <p:txBody>
          <a:bodyPr anchor="t" rtlCol="false" tIns="0" lIns="0" bIns="0" rIns="0">
            <a:spAutoFit/>
          </a:bodyPr>
          <a:lstStyle/>
          <a:p>
            <a:pPr algn="ctr">
              <a:lnSpc>
                <a:spcPts val="9999"/>
              </a:lnSpc>
            </a:pPr>
            <a:r>
              <a:rPr lang="en-US" b="true" sz="7142">
                <a:solidFill>
                  <a:srgbClr val="E7D6A1"/>
                </a:solidFill>
                <a:latin typeface="Playfair Display Bold"/>
                <a:ea typeface="Playfair Display Bold"/>
                <a:cs typeface="Playfair Display Bold"/>
                <a:sym typeface="Playfair Display Bold"/>
              </a:rPr>
              <a:t>VERDE STUDIO</a:t>
            </a:r>
          </a:p>
        </p:txBody>
      </p:sp>
      <p:sp>
        <p:nvSpPr>
          <p:cNvPr name="TextBox 12" id="12"/>
          <p:cNvSpPr txBox="true"/>
          <p:nvPr/>
        </p:nvSpPr>
        <p:spPr>
          <a:xfrm rot="0">
            <a:off x="1820657" y="7478334"/>
            <a:ext cx="14376400" cy="630047"/>
          </a:xfrm>
          <a:prstGeom prst="rect">
            <a:avLst/>
          </a:prstGeom>
        </p:spPr>
        <p:txBody>
          <a:bodyPr anchor="t" rtlCol="false" tIns="0" lIns="0" bIns="0" rIns="0">
            <a:spAutoFit/>
          </a:bodyPr>
          <a:lstStyle/>
          <a:p>
            <a:pPr algn="ctr">
              <a:lnSpc>
                <a:spcPts val="5239"/>
              </a:lnSpc>
              <a:spcBef>
                <a:spcPct val="0"/>
              </a:spcBef>
            </a:pPr>
            <a:r>
              <a:rPr lang="en-US" sz="3742">
                <a:solidFill>
                  <a:srgbClr val="E7D6A1"/>
                </a:solidFill>
                <a:latin typeface="Montserrat"/>
                <a:ea typeface="Montserrat"/>
                <a:cs typeface="Montserrat"/>
                <a:sym typeface="Montserrat"/>
              </a:rPr>
              <a:t>Creative Solutions for Modern Brands</a:t>
            </a:r>
          </a:p>
        </p:txBody>
      </p:sp>
      <p:sp>
        <p:nvSpPr>
          <p:cNvPr name="AutoShape 13" id="13"/>
          <p:cNvSpPr/>
          <p:nvPr/>
        </p:nvSpPr>
        <p:spPr>
          <a:xfrm>
            <a:off x="5897880" y="6610590"/>
            <a:ext cx="6492240" cy="0"/>
          </a:xfrm>
          <a:prstGeom prst="line">
            <a:avLst/>
          </a:prstGeom>
          <a:ln cap="flat" w="38100">
            <a:solidFill>
              <a:srgbClr val="D4AF37"/>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532D"/>
        </a:solidFill>
      </p:bgPr>
    </p:bg>
    <p:spTree>
      <p:nvGrpSpPr>
        <p:cNvPr id="1" name=""/>
        <p:cNvGrpSpPr/>
        <p:nvPr/>
      </p:nvGrpSpPr>
      <p:grpSpPr>
        <a:xfrm>
          <a:off x="0" y="0"/>
          <a:ext cx="0" cy="0"/>
          <a:chOff x="0" y="0"/>
          <a:chExt cx="0" cy="0"/>
        </a:xfrm>
      </p:grpSpPr>
      <p:grpSp>
        <p:nvGrpSpPr>
          <p:cNvPr name="Group 2" id="2"/>
          <p:cNvGrpSpPr/>
          <p:nvPr/>
        </p:nvGrpSpPr>
        <p:grpSpPr>
          <a:xfrm rot="0">
            <a:off x="0" y="0"/>
            <a:ext cx="6792707" cy="10287000"/>
            <a:chOff x="0" y="0"/>
            <a:chExt cx="1789026" cy="2709333"/>
          </a:xfrm>
        </p:grpSpPr>
        <p:sp>
          <p:nvSpPr>
            <p:cNvPr name="Freeform 3" id="3"/>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E7D6A1"/>
            </a:solidFill>
          </p:spPr>
        </p:sp>
        <p:sp>
          <p:nvSpPr>
            <p:cNvPr name="TextBox 4" id="4"/>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446818" y="8630505"/>
            <a:ext cx="897167" cy="2183545"/>
            <a:chOff x="0" y="0"/>
            <a:chExt cx="236291" cy="575090"/>
          </a:xfrm>
        </p:grpSpPr>
        <p:sp>
          <p:nvSpPr>
            <p:cNvPr name="Freeform 6" id="6"/>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D4AF37"/>
            </a:solidFill>
          </p:spPr>
        </p:sp>
        <p:sp>
          <p:nvSpPr>
            <p:cNvPr name="TextBox 7" id="7"/>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grpSp>
        <p:nvGrpSpPr>
          <p:cNvPr name="Group 8" id="8"/>
          <p:cNvGrpSpPr>
            <a:grpSpLocks noChangeAspect="true"/>
          </p:cNvGrpSpPr>
          <p:nvPr/>
        </p:nvGrpSpPr>
        <p:grpSpPr>
          <a:xfrm rot="0">
            <a:off x="7509504" y="2224789"/>
            <a:ext cx="4857773" cy="6528106"/>
            <a:chOff x="0" y="0"/>
            <a:chExt cx="3663950" cy="4923790"/>
          </a:xfrm>
        </p:grpSpPr>
        <p:sp>
          <p:nvSpPr>
            <p:cNvPr name="Freeform 9" id="9"/>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2"/>
              <a:stretch>
                <a:fillRect l="0" t="-5523" r="0" b="-5523"/>
              </a:stretch>
            </a:blipFill>
          </p:spPr>
        </p:sp>
        <p:sp>
          <p:nvSpPr>
            <p:cNvPr name="Freeform 10" id="10"/>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D4AF37"/>
            </a:solidFill>
          </p:spPr>
        </p:sp>
      </p:grpSp>
      <p:grpSp>
        <p:nvGrpSpPr>
          <p:cNvPr name="Group 11" id="11"/>
          <p:cNvGrpSpPr>
            <a:grpSpLocks noChangeAspect="true"/>
          </p:cNvGrpSpPr>
          <p:nvPr/>
        </p:nvGrpSpPr>
        <p:grpSpPr>
          <a:xfrm rot="0">
            <a:off x="12862577" y="2215264"/>
            <a:ext cx="4857773" cy="6528106"/>
            <a:chOff x="0" y="0"/>
            <a:chExt cx="3663950" cy="4923790"/>
          </a:xfrm>
        </p:grpSpPr>
        <p:sp>
          <p:nvSpPr>
            <p:cNvPr name="Freeform 12" id="12"/>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73626" t="0" r="-28623" b="0"/>
              </a:stretch>
            </a:blipFill>
          </p:spPr>
        </p:sp>
        <p:sp>
          <p:nvSpPr>
            <p:cNvPr name="Freeform 13" id="13"/>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D4AF37"/>
            </a:solidFill>
          </p:spPr>
        </p:sp>
      </p:grpSp>
      <p:sp>
        <p:nvSpPr>
          <p:cNvPr name="TextBox 14" id="14"/>
          <p:cNvSpPr txBox="true"/>
          <p:nvPr/>
        </p:nvSpPr>
        <p:spPr>
          <a:xfrm rot="0">
            <a:off x="1028700" y="904875"/>
            <a:ext cx="4715703" cy="1108927"/>
          </a:xfrm>
          <a:prstGeom prst="rect">
            <a:avLst/>
          </a:prstGeom>
        </p:spPr>
        <p:txBody>
          <a:bodyPr anchor="t" rtlCol="false" tIns="0" lIns="0" bIns="0" rIns="0">
            <a:spAutoFit/>
          </a:bodyPr>
          <a:lstStyle/>
          <a:p>
            <a:pPr algn="l">
              <a:lnSpc>
                <a:spcPts val="9111"/>
              </a:lnSpc>
            </a:pPr>
            <a:r>
              <a:rPr lang="en-US" sz="6508">
                <a:solidFill>
                  <a:srgbClr val="14532D"/>
                </a:solidFill>
                <a:latin typeface="Playfair Display"/>
                <a:ea typeface="Playfair Display"/>
                <a:cs typeface="Playfair Display"/>
                <a:sym typeface="Playfair Display"/>
              </a:rPr>
              <a:t>ABOUT </a:t>
            </a:r>
            <a:r>
              <a:rPr lang="en-US" b="true" sz="6508">
                <a:solidFill>
                  <a:srgbClr val="14532D"/>
                </a:solidFill>
                <a:latin typeface="Playfair Display Bold"/>
                <a:ea typeface="Playfair Display Bold"/>
                <a:cs typeface="Playfair Display Bold"/>
                <a:sym typeface="Playfair Display Bold"/>
              </a:rPr>
              <a:t>US!</a:t>
            </a:r>
          </a:p>
        </p:txBody>
      </p:sp>
      <p:sp>
        <p:nvSpPr>
          <p:cNvPr name="TextBox 15" id="15"/>
          <p:cNvSpPr txBox="true"/>
          <p:nvPr/>
        </p:nvSpPr>
        <p:spPr>
          <a:xfrm rot="0">
            <a:off x="1006995" y="2434034"/>
            <a:ext cx="4737407" cy="5728614"/>
          </a:xfrm>
          <a:prstGeom prst="rect">
            <a:avLst/>
          </a:prstGeom>
        </p:spPr>
        <p:txBody>
          <a:bodyPr anchor="t" rtlCol="false" tIns="0" lIns="0" bIns="0" rIns="0">
            <a:spAutoFit/>
          </a:bodyPr>
          <a:lstStyle/>
          <a:p>
            <a:pPr algn="l">
              <a:lnSpc>
                <a:spcPts val="3540"/>
              </a:lnSpc>
              <a:spcBef>
                <a:spcPct val="0"/>
              </a:spcBef>
            </a:pPr>
            <a:r>
              <a:rPr lang="en-US" sz="2529">
                <a:solidFill>
                  <a:srgbClr val="14532D"/>
                </a:solidFill>
                <a:latin typeface="Montserrat"/>
                <a:ea typeface="Montserrat"/>
                <a:cs typeface="Montserrat"/>
                <a:sym typeface="Montserrat"/>
              </a:rPr>
              <a:t>Verde Studio is a creative agency dedicated to helping businesses build strong and memorable brand identities. We specialize in branding, graphic design, social media content, and digital solutions that help companies grow in the modern market. Our focus is to deliver creative, professional, and impactful designs that connect brands with their audience.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D4AF37"/>
        </a:solidFill>
      </p:bgPr>
    </p:bg>
    <p:spTree>
      <p:nvGrpSpPr>
        <p:cNvPr id="1" name=""/>
        <p:cNvGrpSpPr/>
        <p:nvPr/>
      </p:nvGrpSpPr>
      <p:grpSpPr>
        <a:xfrm>
          <a:off x="0" y="0"/>
          <a:ext cx="0" cy="0"/>
          <a:chOff x="0" y="0"/>
          <a:chExt cx="0" cy="0"/>
        </a:xfrm>
      </p:grpSpPr>
      <p:grpSp>
        <p:nvGrpSpPr>
          <p:cNvPr name="Group 2" id="2"/>
          <p:cNvGrpSpPr/>
          <p:nvPr/>
        </p:nvGrpSpPr>
        <p:grpSpPr>
          <a:xfrm rot="0">
            <a:off x="11908043" y="0"/>
            <a:ext cx="6379957" cy="10287000"/>
            <a:chOff x="0" y="0"/>
            <a:chExt cx="1680318" cy="2709333"/>
          </a:xfrm>
        </p:grpSpPr>
        <p:sp>
          <p:nvSpPr>
            <p:cNvPr name="Freeform 3" id="3"/>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14532D"/>
            </a:solidFill>
          </p:spPr>
        </p:sp>
        <p:sp>
          <p:nvSpPr>
            <p:cNvPr name="TextBox 4" id="4"/>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640583" y="1606753"/>
            <a:ext cx="1868266" cy="186826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6A1"/>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3003418" y="2977918"/>
            <a:ext cx="4255882" cy="1452948"/>
          </a:xfrm>
          <a:prstGeom prst="rect">
            <a:avLst/>
          </a:prstGeom>
        </p:spPr>
        <p:txBody>
          <a:bodyPr anchor="t" rtlCol="false" tIns="0" lIns="0" bIns="0" rIns="0">
            <a:spAutoFit/>
          </a:bodyPr>
          <a:lstStyle/>
          <a:p>
            <a:pPr algn="r">
              <a:lnSpc>
                <a:spcPts val="2898"/>
              </a:lnSpc>
              <a:spcBef>
                <a:spcPct val="0"/>
              </a:spcBef>
            </a:pPr>
            <a:r>
              <a:rPr lang="en-US" b="true" sz="2070">
                <a:solidFill>
                  <a:srgbClr val="D4AF37"/>
                </a:solidFill>
                <a:latin typeface="Poppins Bold"/>
                <a:ea typeface="Poppins Bold"/>
                <a:cs typeface="Poppins Bold"/>
                <a:sym typeface="Poppins Bold"/>
              </a:rPr>
              <a:t>Marketing Support – Providing creative materials and visuals to help businesses promote their services effectively.</a:t>
            </a:r>
          </a:p>
        </p:txBody>
      </p:sp>
      <p:sp>
        <p:nvSpPr>
          <p:cNvPr name="TextBox 9" id="9"/>
          <p:cNvSpPr txBox="true"/>
          <p:nvPr/>
        </p:nvSpPr>
        <p:spPr>
          <a:xfrm rot="0">
            <a:off x="12247416" y="5551015"/>
            <a:ext cx="5011884" cy="1673707"/>
          </a:xfrm>
          <a:prstGeom prst="rect">
            <a:avLst/>
          </a:prstGeom>
        </p:spPr>
        <p:txBody>
          <a:bodyPr anchor="t" rtlCol="false" tIns="0" lIns="0" bIns="0" rIns="0">
            <a:spAutoFit/>
          </a:bodyPr>
          <a:lstStyle/>
          <a:p>
            <a:pPr algn="r">
              <a:lnSpc>
                <a:spcPts val="3317"/>
              </a:lnSpc>
              <a:spcBef>
                <a:spcPct val="0"/>
              </a:spcBef>
            </a:pPr>
            <a:r>
              <a:rPr lang="en-US" b="true" sz="2369">
                <a:solidFill>
                  <a:srgbClr val="D4AF37"/>
                </a:solidFill>
                <a:latin typeface="Poppins Bold"/>
                <a:ea typeface="Poppins Bold"/>
                <a:cs typeface="Poppins Bold"/>
                <a:sym typeface="Poppins Bold"/>
              </a:rPr>
              <a:t>Logo Design – Creating professional and memorable logos that represent a business clearly.</a:t>
            </a:r>
          </a:p>
        </p:txBody>
      </p:sp>
      <p:grpSp>
        <p:nvGrpSpPr>
          <p:cNvPr name="Group 10" id="10"/>
          <p:cNvGrpSpPr/>
          <p:nvPr/>
        </p:nvGrpSpPr>
        <p:grpSpPr>
          <a:xfrm rot="0">
            <a:off x="10640583" y="4210291"/>
            <a:ext cx="1868266" cy="186826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6A1"/>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640583" y="6811982"/>
            <a:ext cx="1868266" cy="186826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6A1"/>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70541" y="2006345"/>
            <a:ext cx="1601933" cy="6466659"/>
            <a:chOff x="0" y="0"/>
            <a:chExt cx="421908" cy="1703153"/>
          </a:xfrm>
        </p:grpSpPr>
        <p:sp>
          <p:nvSpPr>
            <p:cNvPr name="Freeform 17" id="17"/>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14532D"/>
            </a:solidFill>
          </p:spPr>
        </p:sp>
        <p:sp>
          <p:nvSpPr>
            <p:cNvPr name="TextBox 18" id="18"/>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1908043" y="1038225"/>
            <a:ext cx="5508835" cy="1284493"/>
          </a:xfrm>
          <a:prstGeom prst="rect">
            <a:avLst/>
          </a:prstGeom>
        </p:spPr>
        <p:txBody>
          <a:bodyPr anchor="t" rtlCol="false" tIns="0" lIns="0" bIns="0" rIns="0">
            <a:spAutoFit/>
          </a:bodyPr>
          <a:lstStyle/>
          <a:p>
            <a:pPr algn="r">
              <a:lnSpc>
                <a:spcPts val="5097"/>
              </a:lnSpc>
            </a:pPr>
            <a:r>
              <a:rPr lang="en-US" sz="4551">
                <a:solidFill>
                  <a:srgbClr val="D4AF37"/>
                </a:solidFill>
                <a:latin typeface="Playfair Display"/>
                <a:ea typeface="Playfair Display"/>
                <a:cs typeface="Playfair Display"/>
                <a:sym typeface="Playfair Display"/>
              </a:rPr>
              <a:t>WHAT WE OFFER</a:t>
            </a:r>
          </a:p>
          <a:p>
            <a:pPr algn="r">
              <a:lnSpc>
                <a:spcPts val="5097"/>
              </a:lnSpc>
            </a:pPr>
            <a:r>
              <a:rPr lang="en-US" b="true" sz="4551">
                <a:solidFill>
                  <a:srgbClr val="D4AF37"/>
                </a:solidFill>
                <a:latin typeface="Playfair Display Bold"/>
                <a:ea typeface="Playfair Display Bold"/>
                <a:cs typeface="Playfair Display Bold"/>
                <a:sym typeface="Playfair Display Bold"/>
              </a:rPr>
              <a:t>ALWAYS</a:t>
            </a:r>
          </a:p>
        </p:txBody>
      </p:sp>
      <p:sp>
        <p:nvSpPr>
          <p:cNvPr name="TextBox 20" id="20"/>
          <p:cNvSpPr txBox="true"/>
          <p:nvPr/>
        </p:nvSpPr>
        <p:spPr>
          <a:xfrm rot="0">
            <a:off x="3593666" y="1693977"/>
            <a:ext cx="5948366" cy="1234450"/>
          </a:xfrm>
          <a:prstGeom prst="rect">
            <a:avLst/>
          </a:prstGeom>
        </p:spPr>
        <p:txBody>
          <a:bodyPr anchor="t" rtlCol="false" tIns="0" lIns="0" bIns="0" rIns="0">
            <a:spAutoFit/>
          </a:bodyPr>
          <a:lstStyle/>
          <a:p>
            <a:pPr algn="r">
              <a:lnSpc>
                <a:spcPts val="3359"/>
              </a:lnSpc>
              <a:spcBef>
                <a:spcPct val="0"/>
              </a:spcBef>
            </a:pPr>
            <a:r>
              <a:rPr lang="en-US" b="true" sz="2399">
                <a:solidFill>
                  <a:srgbClr val="14532D"/>
                </a:solidFill>
                <a:latin typeface="Montserrat Bold"/>
                <a:ea typeface="Montserrat Bold"/>
                <a:cs typeface="Montserrat Bold"/>
                <a:sym typeface="Montserrat Bold"/>
              </a:rPr>
              <a:t>Branding – Creating unique brand identities through colors, fonts, and visual style.</a:t>
            </a:r>
          </a:p>
        </p:txBody>
      </p:sp>
      <p:sp>
        <p:nvSpPr>
          <p:cNvPr name="TextBox 21" id="21"/>
          <p:cNvSpPr txBox="true"/>
          <p:nvPr/>
        </p:nvSpPr>
        <p:spPr>
          <a:xfrm rot="0">
            <a:off x="3593666" y="4364190"/>
            <a:ext cx="5948366" cy="1263025"/>
          </a:xfrm>
          <a:prstGeom prst="rect">
            <a:avLst/>
          </a:prstGeom>
        </p:spPr>
        <p:txBody>
          <a:bodyPr anchor="t" rtlCol="false" tIns="0" lIns="0" bIns="0" rIns="0">
            <a:spAutoFit/>
          </a:bodyPr>
          <a:lstStyle/>
          <a:p>
            <a:pPr algn="r">
              <a:lnSpc>
                <a:spcPts val="3359"/>
              </a:lnSpc>
              <a:spcBef>
                <a:spcPct val="0"/>
              </a:spcBef>
            </a:pPr>
            <a:r>
              <a:rPr lang="en-US" b="true" sz="2399">
                <a:solidFill>
                  <a:srgbClr val="14532D"/>
                </a:solidFill>
                <a:latin typeface="Poppins Bold"/>
                <a:ea typeface="Poppins Bold"/>
                <a:cs typeface="Poppins Bold"/>
                <a:sym typeface="Poppins Bold"/>
              </a:rPr>
              <a:t>Web Design – Building clean and modern website layouts that improve user experience.</a:t>
            </a:r>
          </a:p>
        </p:txBody>
      </p:sp>
      <p:sp>
        <p:nvSpPr>
          <p:cNvPr name="TextBox 22" id="22"/>
          <p:cNvSpPr txBox="true"/>
          <p:nvPr/>
        </p:nvSpPr>
        <p:spPr>
          <a:xfrm rot="0">
            <a:off x="3593666" y="6870631"/>
            <a:ext cx="5948366" cy="1682125"/>
          </a:xfrm>
          <a:prstGeom prst="rect">
            <a:avLst/>
          </a:prstGeom>
        </p:spPr>
        <p:txBody>
          <a:bodyPr anchor="t" rtlCol="false" tIns="0" lIns="0" bIns="0" rIns="0">
            <a:spAutoFit/>
          </a:bodyPr>
          <a:lstStyle/>
          <a:p>
            <a:pPr algn="r">
              <a:lnSpc>
                <a:spcPts val="3359"/>
              </a:lnSpc>
              <a:spcBef>
                <a:spcPct val="0"/>
              </a:spcBef>
            </a:pPr>
            <a:r>
              <a:rPr lang="en-US" b="true" sz="2399">
                <a:solidFill>
                  <a:srgbClr val="14532D"/>
                </a:solidFill>
                <a:latin typeface="Poppins Bold"/>
                <a:ea typeface="Poppins Bold"/>
                <a:cs typeface="Poppins Bold"/>
                <a:sym typeface="Poppins Bold"/>
              </a:rPr>
              <a:t>Social Media Design – Designing attractive posts and content for Instagram, Facebook, and other platforms.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532D"/>
        </a:solidFill>
      </p:bgPr>
    </p:bg>
    <p:spTree>
      <p:nvGrpSpPr>
        <p:cNvPr id="1" name=""/>
        <p:cNvGrpSpPr/>
        <p:nvPr/>
      </p:nvGrpSpPr>
      <p:grpSpPr>
        <a:xfrm>
          <a:off x="0" y="0"/>
          <a:ext cx="0" cy="0"/>
          <a:chOff x="0" y="0"/>
          <a:chExt cx="0" cy="0"/>
        </a:xfrm>
      </p:grpSpPr>
      <p:grpSp>
        <p:nvGrpSpPr>
          <p:cNvPr name="Group 2" id="2"/>
          <p:cNvGrpSpPr/>
          <p:nvPr/>
        </p:nvGrpSpPr>
        <p:grpSpPr>
          <a:xfrm rot="0">
            <a:off x="11982450" y="8997950"/>
            <a:ext cx="2514600" cy="260350"/>
            <a:chOff x="0" y="0"/>
            <a:chExt cx="662281" cy="68570"/>
          </a:xfrm>
        </p:grpSpPr>
        <p:sp>
          <p:nvSpPr>
            <p:cNvPr name="Freeform 3" id="3"/>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E7D6A1"/>
            </a:solidFill>
          </p:spPr>
        </p:sp>
        <p:sp>
          <p:nvSpPr>
            <p:cNvPr name="TextBox 4" id="4"/>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5" id="5"/>
          <p:cNvGrpSpPr>
            <a:grpSpLocks noChangeAspect="true"/>
          </p:cNvGrpSpPr>
          <p:nvPr/>
        </p:nvGrpSpPr>
        <p:grpSpPr>
          <a:xfrm rot="0">
            <a:off x="5064580" y="1774507"/>
            <a:ext cx="5013951" cy="6737985"/>
            <a:chOff x="0" y="0"/>
            <a:chExt cx="3663950" cy="4923790"/>
          </a:xfrm>
        </p:grpSpPr>
        <p:sp>
          <p:nvSpPr>
            <p:cNvPr name="Freeform 6" id="6"/>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2"/>
              <a:stretch>
                <a:fillRect l="-69718" t="0" r="-69718" b="0"/>
              </a:stretch>
            </a:blipFill>
          </p:spPr>
        </p:sp>
        <p:sp>
          <p:nvSpPr>
            <p:cNvPr name="Freeform 7" id="7"/>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E7D6A1"/>
            </a:solidFill>
          </p:spPr>
        </p:sp>
      </p:grpSp>
      <p:grpSp>
        <p:nvGrpSpPr>
          <p:cNvPr name="Group 8" id="8"/>
          <p:cNvGrpSpPr>
            <a:grpSpLocks noChangeAspect="true"/>
          </p:cNvGrpSpPr>
          <p:nvPr/>
        </p:nvGrpSpPr>
        <p:grpSpPr>
          <a:xfrm rot="0">
            <a:off x="1171575" y="1793380"/>
            <a:ext cx="3073669" cy="3174485"/>
            <a:chOff x="0" y="0"/>
            <a:chExt cx="6350000" cy="6558280"/>
          </a:xfrm>
        </p:grpSpPr>
        <p:sp>
          <p:nvSpPr>
            <p:cNvPr name="Freeform 9" id="9"/>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3"/>
              <a:stretch>
                <a:fillRect l="-27449" t="0" r="-27449" b="0"/>
              </a:stretch>
            </a:blipFill>
          </p:spPr>
        </p:sp>
        <p:sp>
          <p:nvSpPr>
            <p:cNvPr name="Freeform 10" id="10"/>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E7D6A1"/>
            </a:solidFill>
          </p:spPr>
        </p:sp>
      </p:grpSp>
      <p:grpSp>
        <p:nvGrpSpPr>
          <p:cNvPr name="Group 11" id="11"/>
          <p:cNvGrpSpPr>
            <a:grpSpLocks noChangeAspect="true"/>
          </p:cNvGrpSpPr>
          <p:nvPr/>
        </p:nvGrpSpPr>
        <p:grpSpPr>
          <a:xfrm rot="0">
            <a:off x="1171575" y="5319135"/>
            <a:ext cx="3073669" cy="3174485"/>
            <a:chOff x="0" y="0"/>
            <a:chExt cx="6350000" cy="6558280"/>
          </a:xfrm>
        </p:grpSpPr>
        <p:sp>
          <p:nvSpPr>
            <p:cNvPr name="Freeform 12" id="12"/>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4"/>
              <a:stretch>
                <a:fillRect l="-27519" t="0" r="-27519" b="0"/>
              </a:stretch>
            </a:blipFill>
          </p:spPr>
        </p:sp>
        <p:sp>
          <p:nvSpPr>
            <p:cNvPr name="Freeform 13" id="13"/>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E7D6A1"/>
            </a:solidFill>
          </p:spPr>
        </p:sp>
      </p:grpSp>
      <p:sp>
        <p:nvSpPr>
          <p:cNvPr name="TextBox 14" id="14"/>
          <p:cNvSpPr txBox="true"/>
          <p:nvPr/>
        </p:nvSpPr>
        <p:spPr>
          <a:xfrm rot="0">
            <a:off x="10968238" y="1298388"/>
            <a:ext cx="6291062" cy="1752178"/>
          </a:xfrm>
          <a:prstGeom prst="rect">
            <a:avLst/>
          </a:prstGeom>
        </p:spPr>
        <p:txBody>
          <a:bodyPr anchor="t" rtlCol="false" tIns="0" lIns="0" bIns="0" rIns="0">
            <a:spAutoFit/>
          </a:bodyPr>
          <a:lstStyle/>
          <a:p>
            <a:pPr algn="l">
              <a:lnSpc>
                <a:spcPts val="6759"/>
              </a:lnSpc>
            </a:pPr>
            <a:r>
              <a:rPr lang="en-US" sz="6693">
                <a:solidFill>
                  <a:srgbClr val="D4AF37"/>
                </a:solidFill>
                <a:latin typeface="Playfair Display"/>
                <a:ea typeface="Playfair Display"/>
                <a:cs typeface="Playfair Display"/>
                <a:sym typeface="Playfair Display"/>
              </a:rPr>
              <a:t>WHY </a:t>
            </a:r>
            <a:r>
              <a:rPr lang="en-US" b="true" sz="6693">
                <a:solidFill>
                  <a:srgbClr val="D4AF37"/>
                </a:solidFill>
                <a:latin typeface="Playfair Display Bold"/>
                <a:ea typeface="Playfair Display Bold"/>
                <a:cs typeface="Playfair Display Bold"/>
                <a:sym typeface="Playfair Display Bold"/>
              </a:rPr>
              <a:t>CHOOSE  US!</a:t>
            </a:r>
          </a:p>
        </p:txBody>
      </p:sp>
      <p:sp>
        <p:nvSpPr>
          <p:cNvPr name="TextBox 15" id="15"/>
          <p:cNvSpPr txBox="true"/>
          <p:nvPr/>
        </p:nvSpPr>
        <p:spPr>
          <a:xfrm rot="0">
            <a:off x="10566985" y="4145316"/>
            <a:ext cx="5392385" cy="2761061"/>
          </a:xfrm>
          <a:prstGeom prst="rect">
            <a:avLst/>
          </a:prstGeom>
        </p:spPr>
        <p:txBody>
          <a:bodyPr anchor="t" rtlCol="false" tIns="0" lIns="0" bIns="0" rIns="0">
            <a:spAutoFit/>
          </a:bodyPr>
          <a:lstStyle/>
          <a:p>
            <a:pPr algn="l" marL="688203" indent="-344101" lvl="1">
              <a:lnSpc>
                <a:spcPts val="4462"/>
              </a:lnSpc>
              <a:buFont typeface="Arial"/>
              <a:buChar char="•"/>
            </a:pPr>
            <a:r>
              <a:rPr lang="en-US" sz="3187">
                <a:solidFill>
                  <a:srgbClr val="D4AF37"/>
                </a:solidFill>
                <a:latin typeface="Montserrat"/>
                <a:ea typeface="Montserrat"/>
                <a:cs typeface="Montserrat"/>
                <a:sym typeface="Montserrat"/>
              </a:rPr>
              <a:t>Creative Team</a:t>
            </a:r>
          </a:p>
          <a:p>
            <a:pPr algn="l" marL="688203" indent="-344101" lvl="1">
              <a:lnSpc>
                <a:spcPts val="4462"/>
              </a:lnSpc>
              <a:buFont typeface="Arial"/>
              <a:buChar char="•"/>
            </a:pPr>
            <a:r>
              <a:rPr lang="en-US" sz="3187">
                <a:solidFill>
                  <a:srgbClr val="D4AF37"/>
                </a:solidFill>
                <a:latin typeface="Montserrat"/>
                <a:ea typeface="Montserrat"/>
                <a:cs typeface="Montserrat"/>
                <a:sym typeface="Montserrat"/>
              </a:rPr>
              <a:t>Modern Designs</a:t>
            </a:r>
          </a:p>
          <a:p>
            <a:pPr algn="l" marL="688203" indent="-344101" lvl="1">
              <a:lnSpc>
                <a:spcPts val="4462"/>
              </a:lnSpc>
              <a:buFont typeface="Arial"/>
              <a:buChar char="•"/>
            </a:pPr>
            <a:r>
              <a:rPr lang="en-US" sz="3187">
                <a:solidFill>
                  <a:srgbClr val="D4AF37"/>
                </a:solidFill>
                <a:latin typeface="Montserrat"/>
                <a:ea typeface="Montserrat"/>
                <a:cs typeface="Montserrat"/>
                <a:sym typeface="Montserrat"/>
              </a:rPr>
              <a:t>Fast Delivery</a:t>
            </a:r>
          </a:p>
          <a:p>
            <a:pPr algn="l" marL="688203" indent="-344101" lvl="1">
              <a:lnSpc>
                <a:spcPts val="4462"/>
              </a:lnSpc>
              <a:buFont typeface="Arial"/>
              <a:buChar char="•"/>
            </a:pPr>
            <a:r>
              <a:rPr lang="en-US" sz="3187">
                <a:solidFill>
                  <a:srgbClr val="D4AF37"/>
                </a:solidFill>
                <a:latin typeface="Montserrat"/>
                <a:ea typeface="Montserrat"/>
                <a:cs typeface="Montserrat"/>
                <a:sym typeface="Montserrat"/>
              </a:rPr>
              <a:t>Professional Support</a:t>
            </a:r>
          </a:p>
          <a:p>
            <a:pPr algn="l" marL="688203" indent="-344101" lvl="1">
              <a:lnSpc>
                <a:spcPts val="4462"/>
              </a:lnSpc>
              <a:buFont typeface="Arial"/>
              <a:buChar char="•"/>
            </a:pPr>
            <a:r>
              <a:rPr lang="en-US" sz="3187">
                <a:solidFill>
                  <a:srgbClr val="D4AF37"/>
                </a:solidFill>
                <a:latin typeface="Montserrat"/>
                <a:ea typeface="Montserrat"/>
                <a:cs typeface="Montserrat"/>
                <a:sym typeface="Montserrat"/>
              </a:rPr>
              <a:t>Affordable Pricing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532D"/>
        </a:solidFill>
      </p:bgPr>
    </p:bg>
    <p:spTree>
      <p:nvGrpSpPr>
        <p:cNvPr id="1" name=""/>
        <p:cNvGrpSpPr/>
        <p:nvPr/>
      </p:nvGrpSpPr>
      <p:grpSpPr>
        <a:xfrm>
          <a:off x="0" y="0"/>
          <a:ext cx="0" cy="0"/>
          <a:chOff x="0" y="0"/>
          <a:chExt cx="0" cy="0"/>
        </a:xfrm>
      </p:grpSpPr>
      <p:grpSp>
        <p:nvGrpSpPr>
          <p:cNvPr name="Group 2" id="2"/>
          <p:cNvGrpSpPr/>
          <p:nvPr/>
        </p:nvGrpSpPr>
        <p:grpSpPr>
          <a:xfrm rot="0">
            <a:off x="-698500" y="3124200"/>
            <a:ext cx="5245100" cy="1332778"/>
            <a:chOff x="0" y="0"/>
            <a:chExt cx="1381426" cy="351020"/>
          </a:xfrm>
        </p:grpSpPr>
        <p:sp>
          <p:nvSpPr>
            <p:cNvPr name="Freeform 3" id="3"/>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D4AF37"/>
            </a:solidFill>
          </p:spPr>
        </p:sp>
        <p:sp>
          <p:nvSpPr>
            <p:cNvPr name="TextBox 4" id="4"/>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741400" y="3124200"/>
            <a:ext cx="5118100" cy="1332778"/>
            <a:chOff x="0" y="0"/>
            <a:chExt cx="1347977" cy="351020"/>
          </a:xfrm>
        </p:grpSpPr>
        <p:sp>
          <p:nvSpPr>
            <p:cNvPr name="Freeform 6" id="6"/>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D4AF37"/>
            </a:solidFill>
          </p:spPr>
        </p:sp>
        <p:sp>
          <p:nvSpPr>
            <p:cNvPr name="TextBox 7" id="7"/>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789315" y="3001704"/>
            <a:ext cx="10709371" cy="1601983"/>
          </a:xfrm>
          <a:prstGeom prst="rect">
            <a:avLst/>
          </a:prstGeom>
        </p:spPr>
        <p:txBody>
          <a:bodyPr anchor="t" rtlCol="false" tIns="0" lIns="0" bIns="0" rIns="0">
            <a:spAutoFit/>
          </a:bodyPr>
          <a:lstStyle/>
          <a:p>
            <a:pPr algn="ctr">
              <a:lnSpc>
                <a:spcPts val="13142"/>
              </a:lnSpc>
            </a:pPr>
            <a:r>
              <a:rPr lang="en-US" b="true" sz="9387">
                <a:solidFill>
                  <a:srgbClr val="D4AF37"/>
                </a:solidFill>
                <a:latin typeface="Playfair Display Bold"/>
                <a:ea typeface="Playfair Display Bold"/>
                <a:cs typeface="Playfair Display Bold"/>
                <a:sym typeface="Playfair Display Bold"/>
              </a:rPr>
              <a:t>THANK YOU</a:t>
            </a:r>
          </a:p>
        </p:txBody>
      </p:sp>
      <p:grpSp>
        <p:nvGrpSpPr>
          <p:cNvPr name="Group 9" id="9"/>
          <p:cNvGrpSpPr/>
          <p:nvPr/>
        </p:nvGrpSpPr>
        <p:grpSpPr>
          <a:xfrm rot="0">
            <a:off x="6944736" y="6705600"/>
            <a:ext cx="4398527" cy="1031357"/>
            <a:chOff x="0" y="0"/>
            <a:chExt cx="1158460" cy="271633"/>
          </a:xfrm>
        </p:grpSpPr>
        <p:sp>
          <p:nvSpPr>
            <p:cNvPr name="Freeform 10" id="10"/>
            <p:cNvSpPr/>
            <p:nvPr/>
          </p:nvSpPr>
          <p:spPr>
            <a:xfrm flipH="false" flipV="false" rot="0">
              <a:off x="0" y="0"/>
              <a:ext cx="1158460" cy="271633"/>
            </a:xfrm>
            <a:custGeom>
              <a:avLst/>
              <a:gdLst/>
              <a:ahLst/>
              <a:cxnLst/>
              <a:rect r="r" b="b" t="t" l="l"/>
              <a:pathLst>
                <a:path h="271633" w="1158460">
                  <a:moveTo>
                    <a:pt x="89766" y="0"/>
                  </a:moveTo>
                  <a:lnTo>
                    <a:pt x="1068694" y="0"/>
                  </a:lnTo>
                  <a:cubicBezTo>
                    <a:pt x="1118270" y="0"/>
                    <a:pt x="1158460" y="40190"/>
                    <a:pt x="1158460" y="89766"/>
                  </a:cubicBezTo>
                  <a:lnTo>
                    <a:pt x="1158460" y="181867"/>
                  </a:lnTo>
                  <a:cubicBezTo>
                    <a:pt x="1158460" y="231443"/>
                    <a:pt x="1118270" y="271633"/>
                    <a:pt x="1068694" y="271633"/>
                  </a:cubicBezTo>
                  <a:lnTo>
                    <a:pt x="89766" y="271633"/>
                  </a:lnTo>
                  <a:cubicBezTo>
                    <a:pt x="40190" y="271633"/>
                    <a:pt x="0" y="231443"/>
                    <a:pt x="0" y="181867"/>
                  </a:cubicBezTo>
                  <a:lnTo>
                    <a:pt x="0" y="89766"/>
                  </a:lnTo>
                  <a:cubicBezTo>
                    <a:pt x="0" y="40190"/>
                    <a:pt x="40190" y="0"/>
                    <a:pt x="89766" y="0"/>
                  </a:cubicBezTo>
                  <a:close/>
                </a:path>
              </a:pathLst>
            </a:custGeom>
            <a:solidFill>
              <a:srgbClr val="D4AF37"/>
            </a:solidFill>
          </p:spPr>
        </p:sp>
        <p:sp>
          <p:nvSpPr>
            <p:cNvPr name="TextBox 11" id="11"/>
            <p:cNvSpPr txBox="true"/>
            <p:nvPr/>
          </p:nvSpPr>
          <p:spPr>
            <a:xfrm>
              <a:off x="0" y="-47625"/>
              <a:ext cx="1158460" cy="31925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128828" y="6719948"/>
            <a:ext cx="6030345" cy="897887"/>
          </a:xfrm>
          <a:prstGeom prst="rect">
            <a:avLst/>
          </a:prstGeom>
        </p:spPr>
        <p:txBody>
          <a:bodyPr anchor="t" rtlCol="false" tIns="0" lIns="0" bIns="0" rIns="0">
            <a:spAutoFit/>
          </a:bodyPr>
          <a:lstStyle/>
          <a:p>
            <a:pPr algn="ctr">
              <a:lnSpc>
                <a:spcPts val="7400"/>
              </a:lnSpc>
            </a:pPr>
            <a:r>
              <a:rPr lang="en-US" sz="5286">
                <a:solidFill>
                  <a:srgbClr val="14532D"/>
                </a:solidFill>
                <a:latin typeface="Montserrat"/>
                <a:ea typeface="Montserrat"/>
                <a:cs typeface="Montserrat"/>
                <a:sym typeface="Montserrat"/>
              </a:rPr>
              <a:t>VISIT US</a:t>
            </a:r>
          </a:p>
        </p:txBody>
      </p:sp>
      <p:sp>
        <p:nvSpPr>
          <p:cNvPr name="Freeform 13" id="13"/>
          <p:cNvSpPr/>
          <p:nvPr/>
        </p:nvSpPr>
        <p:spPr>
          <a:xfrm flipH="false" flipV="false" rot="0">
            <a:off x="3409363" y="8688897"/>
            <a:ext cx="759903" cy="759903"/>
          </a:xfrm>
          <a:custGeom>
            <a:avLst/>
            <a:gdLst/>
            <a:ahLst/>
            <a:cxnLst/>
            <a:rect r="r" b="b" t="t" l="l"/>
            <a:pathLst>
              <a:path h="759903" w="759903">
                <a:moveTo>
                  <a:pt x="0" y="0"/>
                </a:moveTo>
                <a:lnTo>
                  <a:pt x="759903" y="0"/>
                </a:lnTo>
                <a:lnTo>
                  <a:pt x="759903" y="759903"/>
                </a:lnTo>
                <a:lnTo>
                  <a:pt x="0" y="7599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8105697" y="8659101"/>
            <a:ext cx="762324" cy="762324"/>
          </a:xfrm>
          <a:custGeom>
            <a:avLst/>
            <a:gdLst/>
            <a:ahLst/>
            <a:cxnLst/>
            <a:rect r="r" b="b" t="t" l="l"/>
            <a:pathLst>
              <a:path h="762324" w="762324">
                <a:moveTo>
                  <a:pt x="0" y="0"/>
                </a:moveTo>
                <a:lnTo>
                  <a:pt x="762323" y="0"/>
                </a:lnTo>
                <a:lnTo>
                  <a:pt x="762323" y="762323"/>
                </a:lnTo>
                <a:lnTo>
                  <a:pt x="0" y="7623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9268070" y="8735724"/>
            <a:ext cx="5610566" cy="553957"/>
          </a:xfrm>
          <a:prstGeom prst="rect">
            <a:avLst/>
          </a:prstGeom>
        </p:spPr>
        <p:txBody>
          <a:bodyPr anchor="t" rtlCol="false" tIns="0" lIns="0" bIns="0" rIns="0">
            <a:spAutoFit/>
          </a:bodyPr>
          <a:lstStyle/>
          <a:p>
            <a:pPr algn="l" marL="0" indent="0" lvl="0">
              <a:lnSpc>
                <a:spcPts val="4641"/>
              </a:lnSpc>
              <a:spcBef>
                <a:spcPct val="0"/>
              </a:spcBef>
            </a:pPr>
            <a:r>
              <a:rPr lang="en-US" sz="3315" u="none">
                <a:solidFill>
                  <a:srgbClr val="E7D6A1"/>
                </a:solidFill>
                <a:latin typeface="Montserrat"/>
                <a:ea typeface="Montserrat"/>
                <a:cs typeface="Montserrat"/>
                <a:sym typeface="Montserrat"/>
              </a:rPr>
              <a:t>www.verdestudio.com</a:t>
            </a:r>
          </a:p>
        </p:txBody>
      </p:sp>
      <p:sp>
        <p:nvSpPr>
          <p:cNvPr name="TextBox 16" id="16"/>
          <p:cNvSpPr txBox="true"/>
          <p:nvPr/>
        </p:nvSpPr>
        <p:spPr>
          <a:xfrm rot="0">
            <a:off x="4522475" y="8781324"/>
            <a:ext cx="3500346" cy="553957"/>
          </a:xfrm>
          <a:prstGeom prst="rect">
            <a:avLst/>
          </a:prstGeom>
        </p:spPr>
        <p:txBody>
          <a:bodyPr anchor="t" rtlCol="false" tIns="0" lIns="0" bIns="0" rIns="0">
            <a:spAutoFit/>
          </a:bodyPr>
          <a:lstStyle/>
          <a:p>
            <a:pPr algn="l" marL="0" indent="0" lvl="0">
              <a:lnSpc>
                <a:spcPts val="4641"/>
              </a:lnSpc>
              <a:spcBef>
                <a:spcPct val="0"/>
              </a:spcBef>
            </a:pPr>
            <a:r>
              <a:rPr lang="en-US" sz="3315" u="none">
                <a:solidFill>
                  <a:srgbClr val="E7D6A1"/>
                </a:solidFill>
                <a:latin typeface="Montserrat"/>
                <a:ea typeface="Montserrat"/>
                <a:cs typeface="Montserrat"/>
                <a:sym typeface="Montserrat"/>
              </a:rPr>
              <a:t>+123-456-7890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DAHIJfmFhaw</dc:identifier>
  <dcterms:modified xsi:type="dcterms:W3CDTF">2011-08-01T06:04:30Z</dcterms:modified>
  <cp:revision>1</cp:revision>
  <dc:title>Blue &amp; white company profile presentation</dc:title>
</cp:coreProperties>
</file>